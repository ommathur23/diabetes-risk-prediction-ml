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</c:v>
                </c:pt>
                <c:pt idx="1">
                  <c:v>AdaBoost</c:v>
                </c:pt>
                <c:pt idx="2">
                  <c:v>XGBoost</c:v>
                </c:pt>
                <c:pt idx="3">
                  <c:v>Ensemble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0.80700000000000005</c:v>
                </c:pt>
                <c:pt idx="1">
                  <c:v>0.80320000000000003</c:v>
                </c:pt>
                <c:pt idx="2">
                  <c:v>0.81200000000000006</c:v>
                </c:pt>
                <c:pt idx="3">
                  <c:v>0.81559999999999999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5-461F-8298-577993C297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9B6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</c:v>
                </c:pt>
                <c:pt idx="1">
                  <c:v>AdaBoost</c:v>
                </c:pt>
                <c:pt idx="2">
                  <c:v>XGBoost</c:v>
                </c:pt>
                <c:pt idx="3">
                  <c:v>Ensemble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0.41799999999999998</c:v>
                </c:pt>
                <c:pt idx="1">
                  <c:v>0.40939999999999999</c:v>
                </c:pt>
                <c:pt idx="2">
                  <c:v>0.42899999999999999</c:v>
                </c:pt>
                <c:pt idx="3">
                  <c:v>0.43990000000000001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5-461F-8298-577993C297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0B4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2F-4585-B797-1C5C4F83C80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92F-4585-B797-1C5C4F83C80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92F-4585-B797-1C5C4F83C80B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2F-4585-B797-1C5C4F83C80B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2F-4585-B797-1C5C4F83C80B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2F-4585-B797-1C5C4F83C80B}"/>
              </c:ext>
            </c:extLst>
          </c:dPt>
          <c:dPt>
            <c:idx val="6"/>
            <c:invertIfNegative val="0"/>
            <c:bubble3D val="0"/>
            <c:spPr>
              <a:solidFill>
                <a:srgbClr val="4B8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92F-4585-B797-1C5C4F83C80B}"/>
              </c:ext>
            </c:extLst>
          </c:dPt>
          <c:dPt>
            <c:idx val="7"/>
            <c:invertIfNegative val="0"/>
            <c:bubble3D val="0"/>
            <c:spPr>
              <a:solidFill>
                <a:srgbClr val="4B8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2F-4585-B797-1C5C4F83C80B}"/>
              </c:ext>
            </c:extLst>
          </c:dPt>
          <c:dPt>
            <c:idx val="8"/>
            <c:invertIfNegative val="0"/>
            <c:bubble3D val="0"/>
            <c:spPr>
              <a:solidFill>
                <a:srgbClr val="4B8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92F-4585-B797-1C5C4F83C80B}"/>
              </c:ext>
            </c:extLst>
          </c:dPt>
          <c:dPt>
            <c:idx val="9"/>
            <c:invertIfNegative val="0"/>
            <c:bubble3D val="0"/>
            <c:spPr>
              <a:solidFill>
                <a:srgbClr val="4B8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92F-4585-B797-1C5C4F83C8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GenHlth</c:v>
                </c:pt>
                <c:pt idx="1">
                  <c:v>HighBP</c:v>
                </c:pt>
                <c:pt idx="2">
                  <c:v>BP_Chol</c:v>
                </c:pt>
                <c:pt idx="3">
                  <c:v>BMI_cat</c:v>
                </c:pt>
                <c:pt idx="4">
                  <c:v>risk_count</c:v>
                </c:pt>
                <c:pt idx="5">
                  <c:v>Education</c:v>
                </c:pt>
                <c:pt idx="6">
                  <c:v>Income</c:v>
                </c:pt>
                <c:pt idx="7">
                  <c:v>Age</c:v>
                </c:pt>
                <c:pt idx="8">
                  <c:v>BMI_log</c:v>
                </c:pt>
                <c:pt idx="9">
                  <c:v>HighChol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18.2</c:v>
                </c:pt>
                <c:pt idx="1">
                  <c:v>9.8000000000000007</c:v>
                </c:pt>
                <c:pt idx="2">
                  <c:v>8.5</c:v>
                </c:pt>
                <c:pt idx="3">
                  <c:v>8.1</c:v>
                </c:pt>
                <c:pt idx="4">
                  <c:v>8.1999999999999993</c:v>
                </c:pt>
                <c:pt idx="5">
                  <c:v>7.3</c:v>
                </c:pt>
                <c:pt idx="6">
                  <c:v>6.9</c:v>
                </c:pt>
                <c:pt idx="7">
                  <c:v>6.5</c:v>
                </c:pt>
                <c:pt idx="8">
                  <c:v>6.1</c:v>
                </c:pt>
                <c:pt idx="9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92F-4585-B797-1C5C4F83C8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72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611112" y="118873"/>
            <a:ext cx="2286000" cy="2286000"/>
          </a:xfrm>
          <a:prstGeom prst="ellipse">
            <a:avLst/>
          </a:prstGeom>
          <a:solidFill>
            <a:srgbClr val="00294D">
              <a:alpha val="50000"/>
            </a:srgbClr>
          </a:solidFill>
          <a:ln w="12700">
            <a:solidFill>
              <a:srgbClr val="00294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MINI PROJECT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1480" y="11155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11480" y="1828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Ensemble Machine Learning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" y="2514600"/>
            <a:ext cx="8321040" cy="457200"/>
          </a:xfrm>
          <a:prstGeom prst="roundRect">
            <a:avLst>
              <a:gd name="adj" fmla="val 12000"/>
            </a:avLst>
          </a:prstGeom>
          <a:solidFill>
            <a:srgbClr val="162840"/>
          </a:solidFill>
          <a:ln w="15240">
            <a:solidFill>
              <a:srgbClr val="1E3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5146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CDC BRFSS 2015 Health Survey  ·  229,474 Records  ·  ROC-AUC: 0.8156  ·  88% Sensitivity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3182112"/>
            <a:ext cx="83210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  |  April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·  IIIT Nagpur  ·  ML Project Evaluation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3657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Agarwal  &amp;  Om Mathur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90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89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Diabetes Burden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627632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adults live with diabetes. The CDC reports 1 in 5 diabetics are completely unaware of their condition.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46320" y="128016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719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898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Diagnoses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40680" y="1627632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diabetes rapidly accelerates cardiovascular disease, neuropathy, nephropathy, and retinopathy.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78892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2783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8986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Tools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60120" y="3136392"/>
            <a:ext cx="3611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tests (FPG, HbA1c) require blood draws and lab infrastructure — making population-scale screening costly and logistically demanding.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46320" y="2788920"/>
            <a:ext cx="4297680" cy="1280160"/>
          </a:xfrm>
          <a:prstGeom prst="roundRect">
            <a:avLst>
              <a:gd name="adj" fmla="val 5714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90779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029200" y="32186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diabetes risk using only self-reported survey data — with no blood tests — at 88% sensitivity?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Research Papers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160520" cy="3520440"/>
          </a:xfrm>
          <a:prstGeom prst="roundRect">
            <a:avLst>
              <a:gd name="adj" fmla="val 2078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533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984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"Diabetes Prediction Using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Learning"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Jichkar et al. · IEEE SILCON 2024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7490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377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20240" y="2377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(768 records)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20240" y="28529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KNN, NB, DT, Random Forest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2024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— Logistic Regression &amp; KNN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38039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920240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StandardScaler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0352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0352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874520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4520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874520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18688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18688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218688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754880" y="1207008"/>
            <a:ext cx="4160520" cy="3520440"/>
          </a:xfrm>
          <a:prstGeom prst="roundRect">
            <a:avLst>
              <a:gd name="adj" fmla="val 2078"/>
            </a:avLst>
          </a:prstGeom>
          <a:solidFill>
            <a:srgbClr val="0E2540"/>
          </a:solidFill>
          <a:ln w="19050">
            <a:solidFill>
              <a:srgbClr val="9B6DFF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53312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03520" y="12984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"Diabetes Prediction Using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Algorithms"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93776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Sagar · ICAC2N 2024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937760" y="2286000"/>
            <a:ext cx="37490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37760" y="2377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309360" y="2377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(768 records)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937760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309360" y="28529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DT, RF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937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30936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79.16% — Logistic Regression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937760" y="38039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309360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replacement with mean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919472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919472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4919472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6263640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263640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6263640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7607808" y="43434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607808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500" dirty="0"/>
          </a:p>
        </p:txBody>
      </p:sp>
      <p:sp>
        <p:nvSpPr>
          <p:cNvPr id="47" name="Text 43"/>
          <p:cNvSpPr/>
          <p:nvPr/>
        </p:nvSpPr>
        <p:spPr>
          <a:xfrm>
            <a:off x="7607808" y="4626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of the Reference Papers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44168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4416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conditional probability P(Y=1|X) via sigmoid function. Maximum likelihood estimation of β coefficients.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642616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4261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6426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class label by majority vote among k nearest training samples using Euclidean distance.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344168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34416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3441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16916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Bayes theorem assuming feature independence: P(Bi|y) ∝ P(Bi)·∏P(yj|Bi).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91840" y="253288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2642616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64261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6426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990088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splits feature space to maximise information gain, capturing non-linear class boundaries.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172200" y="1263486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6323614" y="1344168"/>
            <a:ext cx="438912" cy="347472"/>
          </a:xfrm>
          <a:prstGeom prst="roundRect">
            <a:avLst>
              <a:gd name="adj" fmla="val 13158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3493008" y="394106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3441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16916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T decision trees trained via bootstrap sampling: f(x) = (1/T)·</a:t>
            </a:r>
            <a:r>
              <a:rPr lang="en-US" sz="880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Σft</a:t>
            </a: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(x). Reduces overfitting.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65760" y="4681728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E25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Approach:  Pima Indians Dataset  ·  768 records  ·  8 features  ·  StandardScaler  ·  Train/Test 75/25  ·  Python + Jupyter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Referenced Papers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existing frameworks required improvement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41732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24328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2624328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31336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831336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55648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5270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Dataset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17647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768 samples from the Pima Indian population — heavily biased toward a single demographic, limiting generalisability.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6265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7340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Threshold Calibration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03520" y="2971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 default 0.5 decision boundary — clinically dangerous. Missing 44% of diabetics is unacceptable for screening tools.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75564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15270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Ignored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03520" y="17647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handling of class imbalance. Positive class (diabetic) under-represented — leads to poor recall on minority class.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1696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9410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Strategy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03520" y="417880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paper addresses public health deployment, real-time inference, or actionable screening frameworks for clinical use.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16966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9410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60120" y="417880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classifiers tested in isolation; no ensemble strategies explored to boost predictive power or robustness.</a:t>
            </a:r>
            <a:endParaRPr lang="en-US" sz="9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2962656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0120" y="27340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Feature Space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60120" y="2971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raw features considered. No interaction terms, log-transforms, or engineered features that capture clinical risk composites.</a:t>
            </a:r>
            <a:endParaRPr lang="en-US" sz="9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77316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4709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920240" y="470916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needed a larger, more diverse dataset with proper imbalance handling, feature engineering, and clinically calibrated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46120" y="20116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46120" y="2286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20" y="402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2015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7132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Health Survey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212080" y="20116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286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0" y="402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229,474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7132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178040" y="201168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286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78040" y="4023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78040" y="7132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188720"/>
            <a:ext cx="8412480" cy="2606040"/>
          </a:xfrm>
          <a:prstGeom prst="roundRect">
            <a:avLst>
              <a:gd name="adj" fmla="val 280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MATRIX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280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 Variables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1600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0" y="16002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INDICATORS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1828800"/>
            <a:ext cx="804672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911096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9110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19110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 ·  BMI_log  ·  PhysHlth  ·  MentHlth  ·  physhlth_log  ·  menthlth_log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9B6DFF">
              <a:alpha val="2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2286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  ·  HighChol  ·  Stroke  ·  HeartDiseaseorAttack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26609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660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06040" y="26609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BP_Chol (HighBP×HighChol)  ·  risk_count  ·  Lifestyle_Score  ·  BMI_cat  ·  is_obese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303580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3035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PhysActivity  ·  Fruits  ·  Veggies  ·  HvyAlcoholConsump  ·  Smoker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341071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F8C42">
              <a:alpha val="2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10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06040" y="34107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age_high_risk  ·  Sex  ·  Education  ·  Income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005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22452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 Non-Diabetic  (218,334)  vs  14.7% Diabetic  (35,140)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Ratio: 6.2 : 1  →  addressed via SMOTE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931920"/>
            <a:ext cx="4069080" cy="1024128"/>
          </a:xfrm>
          <a:prstGeom prst="roundRect">
            <a:avLst>
              <a:gd name="adj" fmla="val 7143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005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42245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→ BMI outlier cap (&gt;60) → Drop low-signal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(AnyHealthcare, NoDocbcCost, r &lt; 0.02)  →  80/20 stratified split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23444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42316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42316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61188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361188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E25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09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Factors Identified: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85032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98264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BMI_log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11496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BP_Chol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824728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risk_count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37960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51192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HighChol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64424" y="4773168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1A3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64424" y="477316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7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61488"/>
            <a:ext cx="347472" cy="34747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60120" y="25328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" y="277063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Self-rated 'Poor' health correlated with ~40% diabetic prevalence vs ~5% for 'Excellent' — subjective health is a strong metabolic proxy.</a:t>
            </a:r>
            <a:endParaRPr lang="en-US" sz="9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761488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03520" y="25328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× CHOL INTERACTION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303520" y="277063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term BP_Chol = HighBP × HighChol: prevalence escalates from 4.9% (neither) to 30.6% (both) — a 6× increase confirming the interaction.</a:t>
            </a:r>
            <a:endParaRPr lang="en-US" sz="9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572768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60120" y="13441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DISTRIBUTION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960120" y="158191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respondents showed median BMI ~30 (Obese) vs ~27 (Overweight) for non-diabetics — pronounced rightward shift with outliers beyond 60.</a:t>
            </a:r>
            <a:endParaRPr lang="en-US" sz="95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50208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30352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VALIDATION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303520" y="395935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SMOTE (sampling_strategy=0.4) boosted minority class to 40% without over-introducing synthetic noise near decision boundaries.</a:t>
            </a:r>
            <a:endParaRPr lang="en-US" sz="95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950208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012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SCORE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960120" y="395935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Lifestyle_Score = PhysActivity + Fruits + Veggies − HvyAlcohol ranked in top predictors, validating behavioural risk aggregation.</a:t>
            </a:r>
            <a:endParaRPr lang="en-US" sz="95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1572768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303520" y="13441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GRADIENTS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303520" y="158191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rose monotonically with age: under 2% for ages 18–24, escalating to ~30% for 80+ bracket.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Differently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754880" cy="3858768"/>
          </a:xfrm>
          <a:prstGeom prst="roundRect">
            <a:avLst>
              <a:gd name="adj" fmla="val 1896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KEY CONTRIBUTIONS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4389120" cy="603504"/>
          </a:xfrm>
          <a:prstGeom prst="roundRect">
            <a:avLst>
              <a:gd name="adj" fmla="val 9091"/>
            </a:avLst>
          </a:prstGeom>
          <a:solidFill>
            <a:srgbClr val="0E25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8249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8249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6276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18470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2015: 229,474 real-world CDC records vs 768 Pima samples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4389120" cy="603504"/>
          </a:xfrm>
          <a:prstGeom prst="roundRect">
            <a:avLst>
              <a:gd name="adj" fmla="val 9091"/>
            </a:avLst>
          </a:prstGeom>
          <a:solidFill>
            <a:srgbClr val="0E2540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9B6DFF">
              <a:alpha val="8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23225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89888" y="2542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incl. BP_Chol interaction, risk_count, Lifestyle_Score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4389120" cy="603504"/>
          </a:xfrm>
          <a:prstGeom prst="roundRect">
            <a:avLst>
              <a:gd name="adj" fmla="val 9091"/>
            </a:avLst>
          </a:prstGeom>
          <a:solidFill>
            <a:srgbClr val="0E25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7238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7238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6.2:1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01752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Imbalance Handling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89888" y="32369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sampling_strategy=0.4 to prevent synthetic noise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4389120" cy="603504"/>
          </a:xfrm>
          <a:prstGeom prst="roundRect">
            <a:avLst>
              <a:gd name="adj" fmla="val 9091"/>
            </a:avLst>
          </a:prstGeom>
          <a:solidFill>
            <a:srgbClr val="0E25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6732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6732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0.82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9888" y="371246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89888" y="3931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+ XGBoost soft-voting weighted by cross-validated AUC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4352544"/>
            <a:ext cx="4389120" cy="603504"/>
          </a:xfrm>
          <a:prstGeom prst="roundRect">
            <a:avLst>
              <a:gd name="adj" fmla="val 9091"/>
            </a:avLst>
          </a:prstGeom>
          <a:solidFill>
            <a:srgbClr val="0E25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46227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F8C42">
              <a:alpha val="8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6227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9888" y="440740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89888" y="46268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threshold P=0.208 vs default 0.5 — targets 88% recall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303520" y="11887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0E25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261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0" y="1481328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referenced papers measure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— we built a clinically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screening system."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2697480"/>
            <a:ext cx="3474720" cy="2395728"/>
          </a:xfrm>
          <a:prstGeom prst="roundRect">
            <a:avLst>
              <a:gd name="adj" fmla="val 3053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7614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68112" y="29992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3952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Papers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71232" y="299923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68112" y="3227832"/>
            <a:ext cx="3127248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8112" y="3273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73952" y="3273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records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16368" y="3300984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3300984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229K records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68112" y="3575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73952" y="3575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16368" y="3602736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16368" y="3602736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68112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73952" y="38770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16368" y="3904488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390448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handled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68112" y="4178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73952" y="4178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516368" y="4206240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16368" y="420624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468112" y="4480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473952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16368" y="4507992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16368" y="450799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0.208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68112" y="4782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473952" y="4782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16368" y="4809744"/>
            <a:ext cx="1115568" cy="228600"/>
          </a:xfrm>
          <a:prstGeom prst="roundRect">
            <a:avLst>
              <a:gd name="adj" fmla="val 16000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16368" y="4809744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ADAPTATION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survey data to calibrated clinical predictions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63040"/>
            <a:ext cx="438912" cy="320040"/>
          </a:xfrm>
          <a:prstGeom prst="ellipse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(BRFSS 2015)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253,680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91640" y="2130552"/>
            <a:ext cx="118872" cy="0"/>
          </a:xfrm>
          <a:prstGeom prst="line">
            <a:avLst/>
          </a:prstGeom>
          <a:noFill/>
          <a:ln w="19050">
            <a:solidFill>
              <a:srgbClr val="A0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0512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9424" y="1463040"/>
            <a:ext cx="438912" cy="32004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65376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65376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229,474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36392" y="2130552"/>
            <a:ext cx="118872" cy="0"/>
          </a:xfrm>
          <a:prstGeom prst="line">
            <a:avLst/>
          </a:prstGeom>
          <a:noFill/>
          <a:ln w="19050">
            <a:solidFill>
              <a:srgbClr val="A0B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5264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1463040"/>
            <a:ext cx="438912" cy="320040"/>
          </a:xfrm>
          <a:prstGeom prst="ellipse">
            <a:avLst/>
          </a:prstGeom>
          <a:solidFill>
            <a:srgbClr val="9B6DFF">
              <a:alpha val="8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81144" y="2130552"/>
            <a:ext cx="118872" cy="0"/>
          </a:xfrm>
          <a:prstGeom prst="line">
            <a:avLst/>
          </a:prstGeom>
          <a:noFill/>
          <a:ln w="19050">
            <a:solidFill>
              <a:srgbClr val="A0B4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1463040"/>
            <a:ext cx="438912" cy="320040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25896" y="2130552"/>
            <a:ext cx="118872" cy="0"/>
          </a:xfrm>
          <a:prstGeom prst="line">
            <a:avLst/>
          </a:prstGeom>
          <a:noFill/>
          <a:ln w="19050">
            <a:solidFill>
              <a:srgbClr val="A0B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1463040"/>
            <a:ext cx="438912" cy="32004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9632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k=22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70648" y="2130552"/>
            <a:ext cx="118872" cy="0"/>
          </a:xfrm>
          <a:prstGeom prst="line">
            <a:avLst/>
          </a:prstGeom>
          <a:noFill/>
          <a:ln w="19050">
            <a:solidFill>
              <a:srgbClr val="A0B4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141732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28432" y="1463040"/>
            <a:ext cx="438912" cy="320040"/>
          </a:xfrm>
          <a:prstGeom prst="ellipse">
            <a:avLst/>
          </a:prstGeom>
          <a:solidFill>
            <a:srgbClr val="FF8C42">
              <a:alpha val="8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28432" y="14630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44384" y="18288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(AB+XGB)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44384" y="2331720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0175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0175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0175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6868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Details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02920" y="3383280"/>
            <a:ext cx="246888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2920" y="3438144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 log-transform: BMIlog = log(1+BMI)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BP_Chol = HighBP × HighChol interaction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risk_count: aggregates 4 cardiovascular flags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Lifestyle_Score: PhysActivity + Fruits + Veggies − HvyAlcohol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flags: has_physhlth, has_menthlth</a:t>
            </a:r>
            <a:endParaRPr lang="en-US" sz="82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90672"/>
            <a:ext cx="274320" cy="27432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72084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Splitting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6355080" y="3383280"/>
            <a:ext cx="246888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355080" y="3438144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5-fold Stratified Cross-Validation (class-balanced)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80/20 Train/Test stratified split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fitted only on training folds (no data leakage)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 SelectKBest (k=22) also fold-internal</a:t>
            </a:r>
            <a:endParaRPr lang="en-US" sz="82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90672"/>
            <a:ext cx="274320" cy="27432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794760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Formulations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3429000" y="3383280"/>
            <a:ext cx="246888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429000" y="3438144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 (L2): P(y=1|X) = σ(β₀ + Σβᵢxᵢ)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AdaBoost: iterative reweighting of misclassified diabetics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XGBoost: L(φ) = Σl(yᵢ,ŷᵢ) + ΣΩ(fₖ), max_depth=5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Ensemble: weighted soft-voting by cross-validated AUC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07008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207008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280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RESULTS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70448" y="15727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01968" y="15727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33488" y="15727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65008" y="15727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70448" y="1828800"/>
            <a:ext cx="274320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1938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01968" y="193852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87768" y="193852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73568" y="193852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88736" y="25786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01968" y="257860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87768" y="257860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73568" y="257860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88736" y="32186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01968" y="321868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87768" y="321868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73568" y="321868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70448" y="3803904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88736" y="385876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★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601968" y="38587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0.8156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287768" y="38587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973568" y="38587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4645152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727448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22960" y="4645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103120" y="46451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 (AdaBoost + XGBoost) achieves the best ROC-AUC 0.8156 &amp; PR-AUC 0.4399 — 3× improvement over a random baseline of 0.147.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CALIBRATION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for Medical Screening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160520" cy="2057400"/>
          </a:xfrm>
          <a:prstGeom prst="roundRect">
            <a:avLst>
              <a:gd name="adj" fmla="val 3556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DEFAULT THRESHOLDS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default P = 0.50, the ensemble achieved only ~56% diabetic-class recall.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767328" cy="566928"/>
          </a:xfrm>
          <a:prstGeom prst="roundRect">
            <a:avLst>
              <a:gd name="adj" fmla="val 9677"/>
            </a:avLst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44% of diabetics is clinically catastrophic in a screening tool.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4160520" cy="1572768"/>
          </a:xfrm>
          <a:prstGeom prst="roundRect">
            <a:avLst>
              <a:gd name="adj" fmla="val 465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38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PRECISION-RECALL CALIBRATION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6758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via PR-curve to find optimal boundary where Recall ≥ 0.70 with usable Precision.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E25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1605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42519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medical 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207008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280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8032" y="1572768"/>
            <a:ext cx="969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15584" y="1572768"/>
            <a:ext cx="969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03136" y="1572768"/>
            <a:ext cx="969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90688" y="1572768"/>
            <a:ext cx="969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28032" y="1801368"/>
            <a:ext cx="37947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2024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(default)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15584" y="192024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03136" y="192024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90688" y="1920240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2432304"/>
            <a:ext cx="3794760" cy="493776"/>
          </a:xfrm>
          <a:prstGeom prst="roundRect">
            <a:avLst>
              <a:gd name="adj" fmla="val 7407"/>
            </a:avLst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48716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0.208 (medical)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15584" y="248716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03136" y="248716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90688" y="248716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4023360" cy="1719072"/>
          </a:xfrm>
          <a:prstGeom prst="roundRect">
            <a:avLst>
              <a:gd name="adj" fmla="val 4255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SCENARIO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individuals screened (14.7% prevalence):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38770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Diabetics: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38770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413308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41330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1,294  (88%)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43891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3891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~176  (12%)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6451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40880" y="46451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→ → HbA1c test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Interpretability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07008"/>
          <a:ext cx="5029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207008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207008"/>
            <a:ext cx="45720" cy="868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87568" y="126187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 (18.2%)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87568" y="149961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Self-rated general health dominates — patient's holistic perception is heavily intertwined with hidden metabolic distress.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5577840" y="21945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2194560"/>
            <a:ext cx="457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224942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 (9.8%)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68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Blood Pressure is the strongest physiological comorbidity indicator for undiagnosed Type 2 diabetes.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5577840" y="3182112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3182112"/>
            <a:ext cx="45720" cy="86868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323697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BP_Chol (8.5%)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87568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interaction term BP_Chol outperforms individual components — validating feature engineering.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577840" y="4169664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4169664"/>
            <a:ext cx="45720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422452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risk_count (8.2%)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87568" y="44622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cardiovascular flag aggregator ranks 5th — engineered features provide critical signal beyond raw inputs.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5577840" y="5166360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0E2540"/>
          </a:solidFill>
          <a:ln w="19050">
            <a:solidFill>
              <a:srgbClr val="00C896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5239512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0" y="5166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(BP_Chol, risk_count) rank in top 5, beating all raw constituents.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Over the Base Papers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1A305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PAPERS (Jichkar / Sharma)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 (BRFSS Ensemble)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72821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7282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7099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Pima Indian records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59552" y="1719072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719072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229,474 CDC BRFSS real-world 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21488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00200" y="2130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clinical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59552" y="2139696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139696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 (interactions, log-transforms)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05456"/>
            <a:ext cx="841248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56946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69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25511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59552" y="2560320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560320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(sampling_strategy = 0.4)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" y="299008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990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00200" y="29718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classifiers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59552" y="2980944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980944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AdaBoost + XGBoost soft-voting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346704"/>
            <a:ext cx="841248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410712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410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0200" y="33924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59552" y="3401568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401568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calibrated P = 0.208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2336" y="383133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8313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00200" y="3813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~56–81%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59552" y="3822192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822192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diabetic-class recall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187952"/>
            <a:ext cx="8412480" cy="42062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" y="425196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00200" y="4233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59552" y="4242816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242816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0.8156 + PR-AUC 0.4399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2336" y="467258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A305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4672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600200" y="46542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strategy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59552" y="4663440"/>
            <a:ext cx="3108960" cy="301752"/>
          </a:xfrm>
          <a:prstGeom prst="roundRect">
            <a:avLst>
              <a:gd name="adj" fmla="val 12121"/>
            </a:avLst>
          </a:prstGeom>
          <a:solidFill>
            <a:srgbClr val="00E5FF">
              <a:alpha val="1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4663440"/>
            <a:ext cx="30906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Mobile/web portal ready — zero-cost digital tool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478024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355848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33672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07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478024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3355848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4233672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92224"/>
            <a:ext cx="347472" cy="3474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17099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19476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is entirely self-reported. Model predicts diagnosed diabetes, inheriting healthcare access biases in underserved populations.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54787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3465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Limitations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60120" y="3703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samples may blur genuine phenotypic boundaries in metabolic disease presentations in Euclidean space.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700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2587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Biomarkers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60120" y="2825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lacks FPG/HbA1c values, strictly limiting the model to survey-level screening — not diagnostic confirmation.</a:t>
            </a:r>
            <a:endParaRPr lang="en-US" sz="9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42569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3434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60120" y="45811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2015 data. Temporal drift in population health behaviors is unaccounted for.</a:t>
            </a:r>
            <a:endParaRPr lang="en-US" sz="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67004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25877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Validation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49240" y="2825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2015-trained model to BRFSS 2020–2022 to evaluate temporal stability over multiple survey cycles.</a:t>
            </a:r>
            <a:endParaRPr lang="en-US" sz="9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179222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49240" y="17099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Integration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349240" y="19476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global feature importance to instance-level SHAP explanations — tell each patient why they were flagged.</a:t>
            </a:r>
            <a:endParaRPr lang="en-US" sz="9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547872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49240" y="34655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349240" y="3703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sigmoid/isotonic regression calibration so output probabilities map to true real-world percentages.</a:t>
            </a:r>
            <a:endParaRPr lang="en-US" sz="95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4425696"/>
            <a:ext cx="347472" cy="34747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49240" y="43434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349240" y="45811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zero-cost mobile/web app — parse self-report inputs, compute risk probability, advise HbA1c testing in real-time.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286000" y="4681728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0E2540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9384"/>
            <a:ext cx="329184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6112" y="1883664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6284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88366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 engineering (27 features including BP_Chol, risk_count, Lifestyle_Score) significantly improved predictive signal over raw inputs.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329184" cy="3291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96112" y="1188720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6284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11887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a large-scale ML screening framework using 229,474 CDC BRFSS records — a 300× scale-up over both referenced papers.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24328"/>
            <a:ext cx="329184" cy="32918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96112" y="2578608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6284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05840" y="257860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(AdaBoost + XGBoost) achieves ROC-AUC 0.8156 — PR-AUC of 0.4399 represents a 3× improvement over the random baseline of 0.147.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19272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96112" y="3273552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6284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05840" y="327355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threshold calibration (P = 0.208) achieves 88% sensitivity — enabling broad, reliable population-level screening with minimal missed diagnoses.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14216"/>
            <a:ext cx="329184" cy="32918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96112" y="3968496"/>
            <a:ext cx="7955280" cy="566928"/>
          </a:xfrm>
          <a:prstGeom prst="roundRect">
            <a:avLst>
              <a:gd name="adj" fmla="val 9677"/>
            </a:avLst>
          </a:prstGeom>
          <a:solidFill>
            <a:srgbClr val="162840"/>
          </a:solidFill>
          <a:ln w="10160">
            <a:solidFill>
              <a:srgbClr val="1E3A5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1005840" y="396849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deployable as a zero-cost digital tool using entirely self-reportable features — no blood draws or lab infrastructure required.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475488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724912" y="46817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Outcome: A Validated, Deployable ML Screening Framework for Diabetes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0116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76148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1129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6110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840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5608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132588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0E5FF">
              <a:alpha val="2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13258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68680" y="1298448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Jichkar et al., "Diabetes Prediction Using Machine Learning"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1554480"/>
            <a:ext cx="6812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SILCON 2024 · DOI: 10.1109/SILCON63976.2024.10910769</a:t>
            </a:r>
            <a:endParaRPr lang="en-US" sz="8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85032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72400" y="357530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0C896">
              <a:alpha val="25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0" y="35753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68680" y="3547872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for Disease Control &amp; Prevention — BRFSS Survey Data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68680" y="3803904"/>
            <a:ext cx="6812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2015 · www.cdc.gov/brfss</a:t>
            </a:r>
            <a:endParaRPr lang="en-US" sz="8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185416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772400" y="207568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9B6DFF">
              <a:alpha val="25000"/>
            </a:srgbClr>
          </a:solidFill>
          <a:ln w="10160">
            <a:solidFill>
              <a:srgbClr val="9B6D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0" y="20756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868680" y="2048256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Sagar, "Diabetes Prediction Using ML Algorithms"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" y="2304288"/>
            <a:ext cx="6812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ICAC2N 2024 · DOI: 10.1109/ICAC2N63387.2024.10894772</a:t>
            </a:r>
            <a:endParaRPr lang="en-US" sz="8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35224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772400" y="28254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FB703">
              <a:alpha val="25000"/>
            </a:srgbClr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72400" y="2825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868680" y="2798064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Teboul, A. — "Diabetes Health Indicators Dataset (BRFSS 2015)"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68680" y="3054096"/>
            <a:ext cx="6812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2021 · CDC Behavioral Risk Factor Surveillance System</a:t>
            </a:r>
            <a:endParaRPr lang="en-US" sz="8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34840"/>
            <a:ext cx="274320" cy="2743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772400" y="432511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F8C42">
              <a:alpha val="25000"/>
            </a:srgbClr>
          </a:solidFill>
          <a:ln w="10160">
            <a:solidFill>
              <a:srgbClr val="FF8C4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772400" y="43251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868680" y="4297680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XGBoost · Imbalanced-learn · Pandas · Seaborn · Jupyter Notebook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2108</Words>
  <Application>Microsoft Office PowerPoint</Application>
  <PresentationFormat>On-screen Show (16:9)</PresentationFormat>
  <Paragraphs>392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Risk Prediction — ML Mini Project</dc:title>
  <dc:subject>PptxGenJS Presentation</dc:subject>
  <dc:creator>PptxGenJS</dc:creator>
  <cp:lastModifiedBy>OM MATHUR</cp:lastModifiedBy>
  <cp:revision>2</cp:revision>
  <dcterms:created xsi:type="dcterms:W3CDTF">2026-04-23T16:41:00Z</dcterms:created>
  <dcterms:modified xsi:type="dcterms:W3CDTF">2026-04-23T16:53:42Z</dcterms:modified>
</cp:coreProperties>
</file>